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28600" y="0"/>
            <a:ext cx="73152" cy="5143500"/>
          </a:xfrm>
          <a:prstGeom prst="rect">
            <a:avLst/>
          </a:prstGeom>
          <a:solidFill>
            <a:srgbClr val="EE9B00"/>
          </a:solidFill>
          <a:ln w="12700">
            <a:solidFill>
              <a:srgbClr val="EE9B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00584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Marketing Analytics Platform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640080" y="19202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D2BD"/>
                </a:solidFill>
              </a:rPr>
              <a:t>Executive Briefing: Analytical Results &amp; Recommendations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14600"/>
            <a:ext cx="4114800" cy="36576"/>
          </a:xfrm>
          <a:prstGeom prst="rect">
            <a:avLst/>
          </a:prstGeom>
          <a:solidFill>
            <a:srgbClr val="EE9B00"/>
          </a:solidFill>
          <a:ln w="12700">
            <a:solidFill>
              <a:srgbClr val="EE9B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69748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CADCFC"/>
                </a:solidFill>
              </a:rPr>
              <a:t>How data-driven decisions can grow campaign response rates,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CADCFC"/>
                </a:solidFill>
              </a:rPr>
              <a:t>optimise budget allocation, and personalise customer outreach.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46177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Prepared by Latha Iyer  ·  March 2025  ·  Ganitha Solutions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What This Briefing Covers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65836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D2BD"/>
                </a:solidFill>
              </a:rPr>
              <a:t>Six questions every marketing executive should be able to answer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097280"/>
            <a:ext cx="4206240" cy="1024128"/>
          </a:xfrm>
          <a:prstGeom prst="rect">
            <a:avLst/>
          </a:prstGeom>
          <a:solidFill>
            <a:srgbClr val="FFFFFF"/>
          </a:solidFill>
          <a:ln w="15240">
            <a:solidFill>
              <a:srgbClr val="E2EDF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097280"/>
            <a:ext cx="54864" cy="1024128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4632" y="118872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9396"/>
                </a:solidFill>
              </a:rPr>
              <a:t>01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978408" y="1170432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Who Are Our Customers?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78408" y="1572768"/>
            <a:ext cx="3383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Segments, demographics, spending behaviour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0040" y="2304288"/>
            <a:ext cx="4206240" cy="1024128"/>
          </a:xfrm>
          <a:prstGeom prst="rect">
            <a:avLst/>
          </a:prstGeom>
          <a:solidFill>
            <a:srgbClr val="FFFFFF"/>
          </a:solidFill>
          <a:ln w="15240">
            <a:solidFill>
              <a:srgbClr val="E2EDF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" y="2304288"/>
            <a:ext cx="54864" cy="1024128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" y="2395728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9396"/>
                </a:solidFill>
              </a:rPr>
              <a:t>02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978408" y="237744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What Drives a Customer to Buy?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78408" y="2779776"/>
            <a:ext cx="3383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The top signals that predict campaign response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0040" y="3511296"/>
            <a:ext cx="4206240" cy="1024128"/>
          </a:xfrm>
          <a:prstGeom prst="rect">
            <a:avLst/>
          </a:prstGeom>
          <a:solidFill>
            <a:srgbClr val="FFFFFF"/>
          </a:solidFill>
          <a:ln w="15240">
            <a:solidFill>
              <a:srgbClr val="E2EDF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3511296"/>
            <a:ext cx="54864" cy="1024128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4632" y="3602736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9396"/>
                </a:solidFill>
              </a:rPr>
              <a:t>03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978408" y="3584448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Which Channel for Which Customer?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78408" y="3986784"/>
            <a:ext cx="3383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Personalised channel recommendations via AI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754880" y="1097280"/>
            <a:ext cx="4206240" cy="1024128"/>
          </a:xfrm>
          <a:prstGeom prst="rect">
            <a:avLst/>
          </a:prstGeom>
          <a:solidFill>
            <a:srgbClr val="FFFFFF"/>
          </a:solidFill>
          <a:ln w="15240">
            <a:solidFill>
              <a:srgbClr val="E2EDF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54880" y="1097280"/>
            <a:ext cx="54864" cy="1024128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19472" y="118872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9396"/>
                </a:solidFill>
              </a:rPr>
              <a:t>04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5413248" y="1170432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How Should We Allocate Budget?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413248" y="1572768"/>
            <a:ext cx="3383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ROI-optimised spend across Web, Catalog, Store, Deals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754880" y="2304288"/>
            <a:ext cx="4206240" cy="1024128"/>
          </a:xfrm>
          <a:prstGeom prst="rect">
            <a:avLst/>
          </a:prstGeom>
          <a:solidFill>
            <a:srgbClr val="FFFFFF"/>
          </a:solidFill>
          <a:ln w="15240">
            <a:solidFill>
              <a:srgbClr val="E2EDF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754880" y="2304288"/>
            <a:ext cx="54864" cy="1024128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19472" y="2395728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9396"/>
                </a:solidFill>
              </a:rPr>
              <a:t>05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5413248" y="237744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Are Our Campaigns Actually Working?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413248" y="2779776"/>
            <a:ext cx="3383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A/B testing &amp; sequential monitoring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754880" y="3511296"/>
            <a:ext cx="4206240" cy="1024128"/>
          </a:xfrm>
          <a:prstGeom prst="rect">
            <a:avLst/>
          </a:prstGeom>
          <a:solidFill>
            <a:srgbClr val="FFFFFF"/>
          </a:solidFill>
          <a:ln w="15240">
            <a:solidFill>
              <a:srgbClr val="E2EDF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754880" y="3511296"/>
            <a:ext cx="54864" cy="1024128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919472" y="3602736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9396"/>
                </a:solidFill>
              </a:rPr>
              <a:t>06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5413248" y="3584448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Who Should We Target First?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5413248" y="3986784"/>
            <a:ext cx="3383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Uplift modelling — finding the persuadable customers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Who Are Our Customers?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65836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D2BD"/>
                </a:solidFill>
              </a:rPr>
              <a:t>2,205 customers · 15.1% campaign response rate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960120"/>
            <a:ext cx="1965960" cy="960120"/>
          </a:xfrm>
          <a:prstGeom prst="rect">
            <a:avLst/>
          </a:prstGeom>
          <a:solidFill>
            <a:srgbClr val="FFFFFF"/>
          </a:solidFill>
          <a:ln w="15240">
            <a:solidFill>
              <a:srgbClr val="E2EDF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960120"/>
            <a:ext cx="54864" cy="96012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9768" y="1069848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9396"/>
                </a:solidFill>
              </a:rPr>
              <a:t>2,205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429768" y="1527048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Total customers analysed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450592" y="960120"/>
            <a:ext cx="1965960" cy="960120"/>
          </a:xfrm>
          <a:prstGeom prst="rect">
            <a:avLst/>
          </a:prstGeom>
          <a:solidFill>
            <a:srgbClr val="FFFFFF"/>
          </a:solidFill>
          <a:ln w="15240">
            <a:solidFill>
              <a:srgbClr val="E2EDF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450592" y="960120"/>
            <a:ext cx="54864" cy="960120"/>
          </a:xfrm>
          <a:prstGeom prst="rect">
            <a:avLst/>
          </a:prstGeom>
          <a:solidFill>
            <a:srgbClr val="EE9B00"/>
          </a:solidFill>
          <a:ln w="12700">
            <a:solidFill>
              <a:srgbClr val="EE9B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60320" y="1069848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E9B00"/>
                </a:solidFill>
              </a:rPr>
              <a:t>15.1%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2560320" y="1527048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Campaign response rate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81144" y="960120"/>
            <a:ext cx="1965960" cy="960120"/>
          </a:xfrm>
          <a:prstGeom prst="rect">
            <a:avLst/>
          </a:prstGeom>
          <a:solidFill>
            <a:srgbClr val="FFFFFF"/>
          </a:solidFill>
          <a:ln w="15240">
            <a:solidFill>
              <a:srgbClr val="E2EDF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81144" y="960120"/>
            <a:ext cx="54864" cy="96012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90872" y="1069848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9396"/>
                </a:solidFill>
              </a:rPr>
              <a:t>$51.3K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4690872" y="1527048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Median household income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711696" y="960120"/>
            <a:ext cx="1965960" cy="960120"/>
          </a:xfrm>
          <a:prstGeom prst="rect">
            <a:avLst/>
          </a:prstGeom>
          <a:solidFill>
            <a:srgbClr val="FFFFFF"/>
          </a:solidFill>
          <a:ln w="15240">
            <a:solidFill>
              <a:srgbClr val="E2EDF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711696" y="960120"/>
            <a:ext cx="54864" cy="960120"/>
          </a:xfrm>
          <a:prstGeom prst="rect">
            <a:avLst/>
          </a:prstGeom>
          <a:solidFill>
            <a:srgbClr val="EE9B00"/>
          </a:solidFill>
          <a:ln w="12700">
            <a:solidFill>
              <a:srgbClr val="EE9B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21424" y="1069848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E9B00"/>
                </a:solidFill>
              </a:rPr>
              <a:t>44 yrs</a:t>
            </a:r>
            <a:endParaRPr lang="en-US" sz="3200" dirty="0"/>
          </a:p>
        </p:txBody>
      </p:sp>
      <p:sp>
        <p:nvSpPr>
          <p:cNvPr id="21" name="Text 19"/>
          <p:cNvSpPr/>
          <p:nvPr/>
        </p:nvSpPr>
        <p:spPr>
          <a:xfrm>
            <a:off x="6821424" y="1527048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Average customer age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20040" y="2084832"/>
            <a:ext cx="1965960" cy="2724912"/>
          </a:xfrm>
          <a:prstGeom prst="rect">
            <a:avLst/>
          </a:prstGeom>
          <a:solidFill>
            <a:srgbClr val="FFFFFF"/>
          </a:solidFill>
          <a:ln w="15240">
            <a:solidFill>
              <a:srgbClr val="E2EDF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0040" y="2084832"/>
            <a:ext cx="54864" cy="2724912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4632" y="2176272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🎓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429768" y="2606040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Education Matters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29768" y="2999232"/>
            <a:ext cx="1783080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94A3B8"/>
                </a:solidFill>
              </a:rPr>
              <a:t>PhD customers respond at 21.2% vs only 3.7% for Basic education — a 5.7× difference. Target graduate segments first.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2450592" y="2084832"/>
            <a:ext cx="1965960" cy="2724912"/>
          </a:xfrm>
          <a:prstGeom prst="rect">
            <a:avLst/>
          </a:prstGeom>
          <a:solidFill>
            <a:srgbClr val="FFFFFF"/>
          </a:solidFill>
          <a:ln w="15240">
            <a:solidFill>
              <a:srgbClr val="E2EDF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2450592" y="2084832"/>
            <a:ext cx="54864" cy="2724912"/>
          </a:xfrm>
          <a:prstGeom prst="rect">
            <a:avLst/>
          </a:prstGeom>
          <a:solidFill>
            <a:srgbClr val="EE9B00"/>
          </a:solidFill>
          <a:ln w="12700">
            <a:solidFill>
              <a:srgbClr val="EE9B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615184" y="2176272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👨‍👩‍👧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2560320" y="2606040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Family Profile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2560320" y="2999232"/>
            <a:ext cx="1783080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94A3B8"/>
                </a:solidFill>
              </a:rPr>
              <a:t>Customers without children at home spend 38% more and respond more often to campaigns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581144" y="2084832"/>
            <a:ext cx="1965960" cy="2724912"/>
          </a:xfrm>
          <a:prstGeom prst="rect">
            <a:avLst/>
          </a:prstGeom>
          <a:solidFill>
            <a:srgbClr val="FFFFFF"/>
          </a:solidFill>
          <a:ln w="15240">
            <a:solidFill>
              <a:srgbClr val="E2EDF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581144" y="2084832"/>
            <a:ext cx="54864" cy="2724912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45736" y="2176272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🍷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4690872" y="2606040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Spend Patterns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690872" y="2999232"/>
            <a:ext cx="1783080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94A3B8"/>
                </a:solidFill>
              </a:rPr>
              <a:t>Wine &amp; Meat are the highest spend categories — strong signals for premium campaign targeting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6711696" y="2084832"/>
            <a:ext cx="1965960" cy="2724912"/>
          </a:xfrm>
          <a:prstGeom prst="rect">
            <a:avLst/>
          </a:prstGeom>
          <a:solidFill>
            <a:srgbClr val="FFFFFF"/>
          </a:solidFill>
          <a:ln w="15240">
            <a:solidFill>
              <a:srgbClr val="E2EDF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6711696" y="2084832"/>
            <a:ext cx="54864" cy="2724912"/>
          </a:xfrm>
          <a:prstGeom prst="rect">
            <a:avLst/>
          </a:prstGeom>
          <a:solidFill>
            <a:srgbClr val="EE9B00"/>
          </a:solidFill>
          <a:ln w="12700">
            <a:solidFill>
              <a:srgbClr val="EE9B0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876288" y="2176272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📅</a:t>
            </a:r>
            <a:endParaRPr lang="en-US" sz="2000" dirty="0"/>
          </a:p>
        </p:txBody>
      </p:sp>
      <p:sp>
        <p:nvSpPr>
          <p:cNvPr id="40" name="Text 38"/>
          <p:cNvSpPr/>
          <p:nvPr/>
        </p:nvSpPr>
        <p:spPr>
          <a:xfrm>
            <a:off x="6821424" y="2606040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Loyalty Pays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821424" y="2999232"/>
            <a:ext cx="1783080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94A3B8"/>
                </a:solidFill>
              </a:rPr>
              <a:t>Customers enrolled 3+ years show 40% higher lifetime value — retention is as important as acquisition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What Drives a Customer to Respond?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65836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D2BD"/>
                </a:solidFill>
              </a:rPr>
              <a:t>Random Forest AUC 0.88 · XGBoost AUC 0.91 · Top predictors ranked by importance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960120"/>
            <a:ext cx="3749040" cy="3822192"/>
          </a:xfrm>
          <a:prstGeom prst="rect">
            <a:avLst/>
          </a:prstGeom>
          <a:solidFill>
            <a:srgbClr val="FFFFFF"/>
          </a:solidFill>
          <a:ln w="15240">
            <a:solidFill>
              <a:srgbClr val="E2EDF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960120"/>
            <a:ext cx="54864" cy="3822192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05156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How we found the answer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1481328"/>
            <a:ext cx="3383280" cy="3127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1E293B"/>
                </a:solidFill>
              </a:rPr>
              <a:t>We trained a machine learning model on 2,205 customers to learn which factors predict whether a customer accepts a campaign offer.
</a:t>
            </a:r>
            <a:pPr indent="0" marL="0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1E293B"/>
                </a:solidFill>
              </a:rPr>
              <a:t>Think of it like this: </a:t>
            </a:r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1E293B"/>
                </a:solidFill>
              </a:rPr>
              <a:t>the model reviewed every customer's history and scored each factor by how useful it was in making the right prediction.
</a:t>
            </a:r>
            <a:pPr indent="0" marL="0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0A9396"/>
                </a:solidFill>
              </a:rPr>
              <a:t>AUC of 0.88 (RF) / 0.91 (XGB)</a:t>
            </a:r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1E293B"/>
                </a:solidFill>
              </a:rPr>
              <a:t>means the model correctly ranks a likely responder above a non-responder 88–91% of the time. This is strong predictive performance for a real-world marketing dataset.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343400" y="960120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Top 8 predictive signals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343400" y="1435608"/>
            <a:ext cx="3474720" cy="256032"/>
          </a:xfrm>
          <a:prstGeom prst="rect">
            <a:avLst/>
          </a:prstGeom>
          <a:solidFill>
            <a:srgbClr val="E8F4F8"/>
          </a:solidFill>
          <a:ln w="12700">
            <a:solidFill>
              <a:srgbClr val="E8F4F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43400" y="1435608"/>
            <a:ext cx="3474720" cy="256032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882128" y="1417320"/>
            <a:ext cx="1170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Recency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343400" y="1691640"/>
            <a:ext cx="4663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Days since last purchase — #1 predictor (RF 0.107)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4343400" y="1888236"/>
            <a:ext cx="3474720" cy="256032"/>
          </a:xfrm>
          <a:prstGeom prst="rect">
            <a:avLst/>
          </a:prstGeom>
          <a:solidFill>
            <a:srgbClr val="E8F4F8"/>
          </a:solidFill>
          <a:ln w="12700">
            <a:solidFill>
              <a:srgbClr val="E8F4F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343400" y="1888236"/>
            <a:ext cx="3439973" cy="256032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882128" y="1869948"/>
            <a:ext cx="1170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Total Campaigns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343400" y="2144268"/>
            <a:ext cx="4663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Past campaign acceptance — strong loyalty signal (0.106)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4343400" y="2340864"/>
            <a:ext cx="3474720" cy="256032"/>
          </a:xfrm>
          <a:prstGeom prst="rect">
            <a:avLst/>
          </a:prstGeom>
          <a:solidFill>
            <a:srgbClr val="E8F4F8"/>
          </a:solidFill>
          <a:ln w="12700">
            <a:solidFill>
              <a:srgbClr val="E8F4F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343400" y="2340864"/>
            <a:ext cx="3370478" cy="256032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882128" y="2322576"/>
            <a:ext cx="1170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Customer Tenure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343400" y="2596896"/>
            <a:ext cx="4663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Days as a customer — long-term value indicator (0.104)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4343400" y="2793492"/>
            <a:ext cx="3474720" cy="256032"/>
          </a:xfrm>
          <a:prstGeom prst="rect">
            <a:avLst/>
          </a:prstGeom>
          <a:solidFill>
            <a:srgbClr val="E8F4F8"/>
          </a:solidFill>
          <a:ln w="12700">
            <a:solidFill>
              <a:srgbClr val="E8F4F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343400" y="2793492"/>
            <a:ext cx="1911096" cy="256032"/>
          </a:xfrm>
          <a:prstGeom prst="rect">
            <a:avLst/>
          </a:prstGeom>
          <a:solidFill>
            <a:srgbClr val="94D2BD"/>
          </a:solidFill>
          <a:ln w="12700">
            <a:solidFill>
              <a:srgbClr val="94D2B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882128" y="2775204"/>
            <a:ext cx="1170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Total Spend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343400" y="3049524"/>
            <a:ext cx="4663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Overall 2-year spend (0.059)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4343400" y="3246120"/>
            <a:ext cx="3474720" cy="256032"/>
          </a:xfrm>
          <a:prstGeom prst="rect">
            <a:avLst/>
          </a:prstGeom>
          <a:solidFill>
            <a:srgbClr val="E8F4F8"/>
          </a:solidFill>
          <a:ln w="12700">
            <a:solidFill>
              <a:srgbClr val="E8F4F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343400" y="3246120"/>
            <a:ext cx="1876349" cy="256032"/>
          </a:xfrm>
          <a:prstGeom prst="rect">
            <a:avLst/>
          </a:prstGeom>
          <a:solidFill>
            <a:srgbClr val="94D2BD"/>
          </a:solidFill>
          <a:ln w="12700">
            <a:solidFill>
              <a:srgbClr val="94D2B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882128" y="3227832"/>
            <a:ext cx="1170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Avg Purchase Value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343400" y="3502152"/>
            <a:ext cx="4663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Spend per transaction (0.058)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4343400" y="3698748"/>
            <a:ext cx="3474720" cy="256032"/>
          </a:xfrm>
          <a:prstGeom prst="rect">
            <a:avLst/>
          </a:prstGeom>
          <a:solidFill>
            <a:srgbClr val="E8F4F8"/>
          </a:solidFill>
          <a:ln w="12700">
            <a:solidFill>
              <a:srgbClr val="E8F4F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343400" y="3698748"/>
            <a:ext cx="1841602" cy="256032"/>
          </a:xfrm>
          <a:prstGeom prst="rect">
            <a:avLst/>
          </a:prstGeom>
          <a:solidFill>
            <a:srgbClr val="94D2BD"/>
          </a:solidFill>
          <a:ln w="12700">
            <a:solidFill>
              <a:srgbClr val="94D2B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882128" y="3680460"/>
            <a:ext cx="1170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Income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343400" y="3954780"/>
            <a:ext cx="4663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Household income — XGBoost gain 0.037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4343400" y="4151376"/>
            <a:ext cx="3474720" cy="256032"/>
          </a:xfrm>
          <a:prstGeom prst="rect">
            <a:avLst/>
          </a:prstGeom>
          <a:solidFill>
            <a:srgbClr val="E8F4F8"/>
          </a:solidFill>
          <a:ln w="12700">
            <a:solidFill>
              <a:srgbClr val="E8F4F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343400" y="4151376"/>
            <a:ext cx="1633118" cy="256032"/>
          </a:xfrm>
          <a:prstGeom prst="rect">
            <a:avLst/>
          </a:prstGeom>
          <a:solidFill>
            <a:srgbClr val="94D2BD"/>
          </a:solidFill>
          <a:ln w="12700">
            <a:solidFill>
              <a:srgbClr val="94D2B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882128" y="4133088"/>
            <a:ext cx="1170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MntMeatProducts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343400" y="4407408"/>
            <a:ext cx="4663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Meat spend — category engagement signal (0.050)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4343400" y="4604004"/>
            <a:ext cx="3474720" cy="256032"/>
          </a:xfrm>
          <a:prstGeom prst="rect">
            <a:avLst/>
          </a:prstGeom>
          <a:solidFill>
            <a:srgbClr val="E8F4F8"/>
          </a:solidFill>
          <a:ln w="12700">
            <a:solidFill>
              <a:srgbClr val="E8F4F8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343400" y="4604004"/>
            <a:ext cx="1528877" cy="256032"/>
          </a:xfrm>
          <a:prstGeom prst="rect">
            <a:avLst/>
          </a:prstGeom>
          <a:solidFill>
            <a:srgbClr val="94D2BD"/>
          </a:solidFill>
          <a:ln w="12700">
            <a:solidFill>
              <a:srgbClr val="94D2B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882128" y="4585716"/>
            <a:ext cx="1170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MntWines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4343400" y="4860036"/>
            <a:ext cx="4663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Wine spend — premium segment indicator (0.047)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Which Channel for Which Customer?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65836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D2BD"/>
                </a:solidFill>
              </a:rPr>
              <a:t>Personalised recommendations — AI matches customers to their most likely channel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960120"/>
            <a:ext cx="8503920" cy="713232"/>
          </a:xfrm>
          <a:prstGeom prst="rect">
            <a:avLst/>
          </a:prstGeom>
          <a:solidFill>
            <a:srgbClr val="E8F4FB"/>
          </a:solidFill>
          <a:ln w="15240">
            <a:solidFill>
              <a:srgbClr val="E2EDF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960120"/>
            <a:ext cx="54864" cy="713232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03327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E293B"/>
                </a:solidFill>
              </a:rPr>
              <a:t>Not every customer responds the same way. Our recommender system analyses each customer's purchase history and profile to predict which marketing channel they are most likely to respond to — automatically, at scale.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" y="1874520"/>
            <a:ext cx="1965960" cy="1417320"/>
          </a:xfrm>
          <a:prstGeom prst="rect">
            <a:avLst/>
          </a:prstGeom>
          <a:solidFill>
            <a:srgbClr val="FFFFFF"/>
          </a:solidFill>
          <a:ln w="15240">
            <a:solidFill>
              <a:srgbClr val="E2EDF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1874520"/>
            <a:ext cx="54864" cy="141732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6344" y="196596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🌐  Web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66344" y="2377440"/>
            <a:ext cx="17373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94A3B8"/>
                </a:solidFill>
              </a:rPr>
              <a:t>Digital-first customers · younger · higher web visits · responds to online promotions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450592" y="1874520"/>
            <a:ext cx="1965960" cy="1417320"/>
          </a:xfrm>
          <a:prstGeom prst="rect">
            <a:avLst/>
          </a:prstGeom>
          <a:solidFill>
            <a:srgbClr val="FFFFFF"/>
          </a:solidFill>
          <a:ln w="15240">
            <a:solidFill>
              <a:srgbClr val="E2EDF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450592" y="1874520"/>
            <a:ext cx="54864" cy="141732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96896" y="196596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📘  Catalog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596896" y="2377440"/>
            <a:ext cx="17373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94A3B8"/>
                </a:solidFill>
              </a:rPr>
              <a:t>Premium shoppers · high income · wine &amp; meat buyers · prefers considered purchases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581144" y="1874520"/>
            <a:ext cx="1965960" cy="1417320"/>
          </a:xfrm>
          <a:prstGeom prst="rect">
            <a:avLst/>
          </a:prstGeom>
          <a:solidFill>
            <a:srgbClr val="FFFFFF"/>
          </a:solidFill>
          <a:ln w="15240">
            <a:solidFill>
              <a:srgbClr val="E2EDF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81144" y="1874520"/>
            <a:ext cx="54864" cy="1417320"/>
          </a:xfrm>
          <a:prstGeom prst="rect">
            <a:avLst/>
          </a:prstGeom>
          <a:solidFill>
            <a:srgbClr val="EE9B00"/>
          </a:solidFill>
          <a:ln w="12700">
            <a:solidFill>
              <a:srgbClr val="EE9B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27448" y="196596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🏪  Store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727448" y="2377440"/>
            <a:ext cx="17373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94A3B8"/>
                </a:solidFill>
              </a:rPr>
              <a:t>Families · deal-sensitive · moderate income · values in-person experience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711696" y="1874520"/>
            <a:ext cx="1965960" cy="1417320"/>
          </a:xfrm>
          <a:prstGeom prst="rect">
            <a:avLst/>
          </a:prstGeom>
          <a:solidFill>
            <a:srgbClr val="FFFFFF"/>
          </a:solidFill>
          <a:ln w="15240">
            <a:solidFill>
              <a:srgbClr val="E2EDF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711696" y="1874520"/>
            <a:ext cx="54864" cy="1417320"/>
          </a:xfrm>
          <a:prstGeom prst="rect">
            <a:avLst/>
          </a:prstGeom>
          <a:solidFill>
            <a:srgbClr val="AE2012"/>
          </a:solidFill>
          <a:ln w="12700">
            <a:solidFill>
              <a:srgbClr val="AE201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58000" y="196596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🏷️  Deals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858000" y="2377440"/>
            <a:ext cx="17373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94A3B8"/>
                </a:solidFill>
              </a:rPr>
              <a:t>Value seekers · high visit frequency · low per-transaction spend · coupon-driven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320040" y="3456432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How the AI makes its recommendation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20040" y="3822192"/>
            <a:ext cx="2697480" cy="1078992"/>
          </a:xfrm>
          <a:prstGeom prst="rect">
            <a:avLst/>
          </a:prstGeom>
          <a:solidFill>
            <a:srgbClr val="FFFFFF"/>
          </a:solidFill>
          <a:ln w="15240">
            <a:solidFill>
              <a:srgbClr val="E2EDF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20040" y="3822192"/>
            <a:ext cx="54864" cy="1078992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6344" y="3877056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A9396"/>
                </a:solidFill>
              </a:rPr>
              <a:t>Step 1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66344" y="41148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Learn Patterns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66344" y="4407408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94A3B8"/>
                </a:solidFill>
              </a:rPr>
              <a:t>The AI studies purchase history across all 2,205 customers and discovers hidden groups — e.g. 'premium catalog shoppers' emerge naturally without being told to look for them.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172968" y="3822192"/>
            <a:ext cx="2697480" cy="1078992"/>
          </a:xfrm>
          <a:prstGeom prst="rect">
            <a:avLst/>
          </a:prstGeom>
          <a:solidFill>
            <a:srgbClr val="FFFFFF"/>
          </a:solidFill>
          <a:ln w="15240">
            <a:solidFill>
              <a:srgbClr val="E2EDF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3172968" y="3822192"/>
            <a:ext cx="54864" cy="1078992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319272" y="3877056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A9396"/>
                </a:solidFill>
              </a:rPr>
              <a:t>Step 2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319272" y="41148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Score Each Match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3319272" y="4407408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94A3B8"/>
                </a:solidFill>
              </a:rPr>
              <a:t>Every customer gets a compatibility score for each channel, based on how similar they are to customers who already use that channel heavily.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6025896" y="3822192"/>
            <a:ext cx="2697480" cy="1078992"/>
          </a:xfrm>
          <a:prstGeom prst="rect">
            <a:avLst/>
          </a:prstGeom>
          <a:solidFill>
            <a:srgbClr val="FFFFFF"/>
          </a:solidFill>
          <a:ln w="15240">
            <a:solidFill>
              <a:srgbClr val="E2EDF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025896" y="3822192"/>
            <a:ext cx="54864" cy="1078992"/>
          </a:xfrm>
          <a:prstGeom prst="rect">
            <a:avLst/>
          </a:prstGeom>
          <a:solidFill>
            <a:srgbClr val="EE9B00"/>
          </a:solidFill>
          <a:ln w="12700">
            <a:solidFill>
              <a:srgbClr val="EE9B0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172200" y="3877056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A9396"/>
                </a:solidFill>
              </a:rPr>
              <a:t>Step 3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172200" y="41148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Rank &amp; Recommend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172200" y="4407408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94A3B8"/>
                </a:solidFill>
              </a:rPr>
              <a:t>The highest-scoring channel is recommended. Precision@2 = 99.9% — nearly perfect at identifying the right channels per customer.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The AI Discovers Hidden Customer Types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65836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D2BD"/>
                </a:solidFill>
              </a:rPr>
              <a:t>What are 'latent factors'? — explained for business leaders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960120"/>
            <a:ext cx="4114800" cy="3913632"/>
          </a:xfrm>
          <a:prstGeom prst="rect">
            <a:avLst/>
          </a:prstGeom>
          <a:solidFill>
            <a:srgbClr val="FFFDF5"/>
          </a:solidFill>
          <a:ln w="15240">
            <a:solidFill>
              <a:srgbClr val="E2EDF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960120"/>
            <a:ext cx="54864" cy="3913632"/>
          </a:xfrm>
          <a:prstGeom prst="rect">
            <a:avLst/>
          </a:prstGeom>
          <a:solidFill>
            <a:srgbClr val="EE9B00"/>
          </a:solidFill>
          <a:ln w="12700">
            <a:solidFill>
              <a:srgbClr val="EE9B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05156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💡  The Analogy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1481328"/>
            <a:ext cx="374904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80" dirty="0">
                <a:solidFill>
                  <a:srgbClr val="1E293B"/>
                </a:solidFill>
              </a:rPr>
              <a:t>Think of it like a personality quiz you never filled in.
</a:t>
            </a:r>
            <a:pPr indent="0" marL="0">
              <a:lnSpc>
                <a:spcPct val="150000"/>
              </a:lnSpc>
              <a:buNone/>
            </a:pPr>
            <a:r>
              <a:rPr lang="en-US" sz="1080" b="1" dirty="0">
                <a:solidFill>
                  <a:srgbClr val="1E293B"/>
                </a:solidFill>
              </a:rPr>
              <a:t>Nobody told the AI: </a:t>
            </a:r>
            <a:pPr indent="0" marL="0">
              <a:lnSpc>
                <a:spcPct val="150000"/>
              </a:lnSpc>
              <a:buNone/>
            </a:pPr>
            <a:r>
              <a:rPr lang="en-US" sz="1080" i="1" dirty="0">
                <a:solidFill>
                  <a:srgbClr val="0A9396"/>
                </a:solidFill>
              </a:rPr>
              <a:t>'This customer is a Premium Offline Shopper.'
</a:t>
            </a:r>
            <a:pPr indent="0" marL="0">
              <a:lnSpc>
                <a:spcPct val="150000"/>
              </a:lnSpc>
              <a:buNone/>
            </a:pPr>
            <a:r>
              <a:rPr lang="en-US" sz="1080" dirty="0">
                <a:solidFill>
                  <a:srgbClr val="1E293B"/>
                </a:solidFill>
              </a:rPr>
              <a:t>Instead, the AI looked at thousands of purchase patterns and noticed: customers who buy expensive wine and meat tend to also prefer the Catalog channel.
</a:t>
            </a:r>
            <a:pPr indent="0" marL="0">
              <a:lnSpc>
                <a:spcPct val="150000"/>
              </a:lnSpc>
              <a:buNone/>
            </a:pPr>
            <a:r>
              <a:rPr lang="en-US" sz="1080" dirty="0">
                <a:solidFill>
                  <a:srgbClr val="1E293B"/>
                </a:solidFill>
              </a:rPr>
              <a:t>It labelled that hidden pattern internally — a 'latent factor.' It found 10 such patterns in our data. Every customer gets a score on all 10.</a:t>
            </a:r>
            <a:endParaRPr lang="en-US" sz="1080" dirty="0"/>
          </a:p>
        </p:txBody>
      </p:sp>
      <p:sp>
        <p:nvSpPr>
          <p:cNvPr id="10" name="Text 8"/>
          <p:cNvSpPr/>
          <p:nvPr/>
        </p:nvSpPr>
        <p:spPr>
          <a:xfrm>
            <a:off x="4709160" y="96012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Observable vs Hidden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709160" y="1417320"/>
            <a:ext cx="2011680" cy="566928"/>
          </a:xfrm>
          <a:prstGeom prst="rect">
            <a:avLst/>
          </a:prstGeom>
          <a:solidFill>
            <a:srgbClr val="0A9396"/>
          </a:solidFill>
          <a:ln w="10160">
            <a:solidFill>
              <a:srgbClr val="D0E4E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748272" y="1417320"/>
            <a:ext cx="2075688" cy="566928"/>
          </a:xfrm>
          <a:prstGeom prst="rect">
            <a:avLst/>
          </a:prstGeom>
          <a:solidFill>
            <a:srgbClr val="0D2137"/>
          </a:solidFill>
          <a:ln w="10160">
            <a:solidFill>
              <a:srgbClr val="D0E4E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73168" y="1508760"/>
            <a:ext cx="18836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What we can see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812280" y="150876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What the AI discovers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709160" y="2075688"/>
            <a:ext cx="2011680" cy="566928"/>
          </a:xfrm>
          <a:prstGeom prst="rect">
            <a:avLst/>
          </a:prstGeom>
          <a:solidFill>
            <a:srgbClr val="FFFFFF"/>
          </a:solidFill>
          <a:ln w="10160">
            <a:solidFill>
              <a:srgbClr val="D0E4E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748272" y="2075688"/>
            <a:ext cx="2075688" cy="566928"/>
          </a:xfrm>
          <a:prstGeom prst="rect">
            <a:avLst/>
          </a:prstGeom>
          <a:solidFill>
            <a:srgbClr val="FFFFFF"/>
          </a:solidFill>
          <a:ln w="10160">
            <a:solidFill>
              <a:srgbClr val="D0E4E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73168" y="2167128"/>
            <a:ext cx="18836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Buys wine + meat · uses Catalog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812280" y="216712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A9396"/>
                </a:solidFill>
              </a:rPr>
              <a:t>-&gt;  'Premium Offline Shopper'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709160" y="2734056"/>
            <a:ext cx="2011680" cy="566928"/>
          </a:xfrm>
          <a:prstGeom prst="rect">
            <a:avLst/>
          </a:prstGeom>
          <a:solidFill>
            <a:srgbClr val="EFF6FB"/>
          </a:solidFill>
          <a:ln w="10160">
            <a:solidFill>
              <a:srgbClr val="D0E4E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748272" y="2734056"/>
            <a:ext cx="2075688" cy="566928"/>
          </a:xfrm>
          <a:prstGeom prst="rect">
            <a:avLst/>
          </a:prstGeom>
          <a:solidFill>
            <a:srgbClr val="EFF6FB"/>
          </a:solidFill>
          <a:ln w="10160">
            <a:solidFill>
              <a:srgbClr val="D0E4E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73168" y="2825496"/>
            <a:ext cx="18836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High web visits · uses Deals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812280" y="2825496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A9396"/>
                </a:solidFill>
              </a:rPr>
              <a:t>-&gt;  'Digital Deal Hunter'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709160" y="3392424"/>
            <a:ext cx="2011680" cy="566928"/>
          </a:xfrm>
          <a:prstGeom prst="rect">
            <a:avLst/>
          </a:prstGeom>
          <a:solidFill>
            <a:srgbClr val="FFFFFF"/>
          </a:solidFill>
          <a:ln w="10160">
            <a:solidFill>
              <a:srgbClr val="D0E4E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748272" y="3392424"/>
            <a:ext cx="2075688" cy="566928"/>
          </a:xfrm>
          <a:prstGeom prst="rect">
            <a:avLst/>
          </a:prstGeom>
          <a:solidFill>
            <a:srgbClr val="FFFFFF"/>
          </a:solidFill>
          <a:ln w="10160">
            <a:solidFill>
              <a:srgbClr val="D0E4E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73168" y="3483864"/>
            <a:ext cx="18836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Moderate spend · Store visits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812280" y="3483864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A9396"/>
                </a:solidFill>
              </a:rPr>
              <a:t>-&gt;  'Practical Family Buyer'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709160" y="4050792"/>
            <a:ext cx="2011680" cy="566928"/>
          </a:xfrm>
          <a:prstGeom prst="rect">
            <a:avLst/>
          </a:prstGeom>
          <a:solidFill>
            <a:srgbClr val="EFF6FB"/>
          </a:solidFill>
          <a:ln w="10160">
            <a:solidFill>
              <a:srgbClr val="D0E4E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748272" y="4050792"/>
            <a:ext cx="2075688" cy="566928"/>
          </a:xfrm>
          <a:prstGeom prst="rect">
            <a:avLst/>
          </a:prstGeom>
          <a:solidFill>
            <a:srgbClr val="EFF6FB"/>
          </a:solidFill>
          <a:ln w="10160">
            <a:solidFill>
              <a:srgbClr val="D0E4E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73168" y="4142232"/>
            <a:ext cx="18836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Low recency · high income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812280" y="4142232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A9396"/>
                </a:solidFill>
              </a:rPr>
              <a:t>-&gt;  'Lapsed Premium Customer'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709160" y="4709160"/>
            <a:ext cx="4114800" cy="182880"/>
          </a:xfrm>
          <a:prstGeom prst="rect">
            <a:avLst/>
          </a:prstGeom>
          <a:solidFill>
            <a:srgbClr val="E8F4FB"/>
          </a:solidFill>
          <a:ln w="15240">
            <a:solidFill>
              <a:srgbClr val="E2EDF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709160" y="4709160"/>
            <a:ext cx="54864" cy="18288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64608" y="475488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i="1" dirty="0">
                <a:solidFill>
                  <a:srgbClr val="1E293B"/>
                </a:solidFill>
              </a:rPr>
              <a:t>Business value: we can now target each customer on their most responsive channel without any manual segmentation rules.</a:t>
            </a:r>
            <a:endParaRPr lang="en-US" sz="92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How Should We Allocate Our $50K Marketing Budget?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65836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D2BD"/>
                </a:solidFill>
              </a:rPr>
              <a:t>ROI simulator results — optimised allocation across 4 channels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960120"/>
            <a:ext cx="2286000" cy="1481328"/>
          </a:xfrm>
          <a:prstGeom prst="rect">
            <a:avLst/>
          </a:prstGeom>
          <a:solidFill>
            <a:srgbClr val="0D2137"/>
          </a:solidFill>
          <a:ln w="15240">
            <a:solidFill>
              <a:srgbClr val="E2EDF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20040" y="1115568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EE9B00"/>
                </a:solidFill>
              </a:rPr>
              <a:t>272%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320040" y="1828800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D2BD"/>
                </a:solidFill>
              </a:rPr>
              <a:t>Projected ROI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D2BD"/>
                </a:solidFill>
              </a:rPr>
              <a:t>$50K → $186K revenue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834640" y="960120"/>
            <a:ext cx="6035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Recommended Allocation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834640" y="1417320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Web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858768" y="1453896"/>
            <a:ext cx="5852160" cy="274320"/>
          </a:xfrm>
          <a:prstGeom prst="rect">
            <a:avLst/>
          </a:prstGeom>
          <a:solidFill>
            <a:srgbClr val="E8F4F8"/>
          </a:solidFill>
          <a:ln w="12700">
            <a:solidFill>
              <a:srgbClr val="E8F4F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858768" y="1453896"/>
            <a:ext cx="2165299" cy="27432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58768" y="1764792"/>
            <a:ext cx="5852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37%  ·  $18,250  ·  ROI 388%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2834640" y="2313432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Catalog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858768" y="2350008"/>
            <a:ext cx="5852160" cy="274320"/>
          </a:xfrm>
          <a:prstGeom prst="rect">
            <a:avLst/>
          </a:prstGeom>
          <a:solidFill>
            <a:srgbClr val="E8F4F8"/>
          </a:solidFill>
          <a:ln w="12700">
            <a:solidFill>
              <a:srgbClr val="E8F4F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858768" y="2350008"/>
            <a:ext cx="1697126" cy="27432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58768" y="2660904"/>
            <a:ext cx="5852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29%  ·  $14,650  ·  ROI 292%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834640" y="3209544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Store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858768" y="3246120"/>
            <a:ext cx="5852160" cy="274320"/>
          </a:xfrm>
          <a:prstGeom prst="rect">
            <a:avLst/>
          </a:prstGeom>
          <a:solidFill>
            <a:srgbClr val="E8F4F8"/>
          </a:solidFill>
          <a:ln w="12700">
            <a:solidFill>
              <a:srgbClr val="E8F4F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858768" y="3246120"/>
            <a:ext cx="1287475" cy="274320"/>
          </a:xfrm>
          <a:prstGeom prst="rect">
            <a:avLst/>
          </a:prstGeom>
          <a:solidFill>
            <a:srgbClr val="EE9B00"/>
          </a:solidFill>
          <a:ln w="12700">
            <a:solidFill>
              <a:srgbClr val="EE9B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858768" y="3557016"/>
            <a:ext cx="5852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22%  ·  $8,550  ·  ROI 103%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2834640" y="4105656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Deals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858768" y="4142232"/>
            <a:ext cx="5852160" cy="274320"/>
          </a:xfrm>
          <a:prstGeom prst="rect">
            <a:avLst/>
          </a:prstGeom>
          <a:solidFill>
            <a:srgbClr val="E8F4F8"/>
          </a:solidFill>
          <a:ln w="12700">
            <a:solidFill>
              <a:srgbClr val="E8F4F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858768" y="4142232"/>
            <a:ext cx="702259" cy="274320"/>
          </a:xfrm>
          <a:prstGeom prst="rect">
            <a:avLst/>
          </a:prstGeom>
          <a:solidFill>
            <a:srgbClr val="AE2012"/>
          </a:solidFill>
          <a:ln w="12700">
            <a:solidFill>
              <a:srgbClr val="AE201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858768" y="4453128"/>
            <a:ext cx="5852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12%  ·  $7,600  ·  ROI 155%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20040" y="4617720"/>
            <a:ext cx="8503920" cy="292608"/>
          </a:xfrm>
          <a:prstGeom prst="rect">
            <a:avLst/>
          </a:prstGeom>
          <a:solidFill>
            <a:srgbClr val="E8F4FB"/>
          </a:solidFill>
          <a:ln w="15240">
            <a:solidFill>
              <a:srgbClr val="E2EDF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20040" y="4617720"/>
            <a:ext cx="54864" cy="292608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" y="46451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1E293B"/>
                </a:solidFill>
              </a:rPr>
              <a:t>📊  Web delivers the highest volume at 36.5% budget share ($18,250). Catalog premium customers show strongest response rates. Combined strategy expected to return $186,267 on $50K spend.</a:t>
            </a:r>
            <a:endParaRPr lang="en-US" sz="92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Are Our Campaigns Actually Working?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65836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D2BD"/>
                </a:solidFill>
              </a:rPr>
              <a:t>A/B testing framework with statistical rigour — no more gut-feel decisions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960120"/>
            <a:ext cx="3931920" cy="3913632"/>
          </a:xfrm>
          <a:prstGeom prst="rect">
            <a:avLst/>
          </a:prstGeom>
          <a:solidFill>
            <a:srgbClr val="FFFFFF"/>
          </a:solidFill>
          <a:ln w="15240">
            <a:solidFill>
              <a:srgbClr val="E2EDF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960120"/>
            <a:ext cx="54864" cy="3913632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05156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What is A/B Testing?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1481328"/>
            <a:ext cx="35661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1E293B"/>
                </a:solidFill>
              </a:rPr>
              <a:t>We split customers into two groups:
</a:t>
            </a:r>
            <a:pPr indent="0" marL="0">
              <a:lnSpc>
                <a:spcPct val="145000"/>
              </a:lnSpc>
              <a:buNone/>
            </a:pPr>
            <a:r>
              <a:rPr lang="en-US" sz="1050" b="1" dirty="0">
                <a:solidFill>
                  <a:srgbClr val="0D2137"/>
                </a:solidFill>
              </a:rPr>
              <a:t>Group A (Control): </a:t>
            </a:r>
            <a:pPr indent="0" marL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1E293B"/>
                </a:solidFill>
              </a:rPr>
              <a:t>receives the existing campaign.
</a:t>
            </a:r>
            <a:pPr indent="0" marL="0">
              <a:lnSpc>
                <a:spcPct val="145000"/>
              </a:lnSpc>
              <a:buNone/>
            </a:pPr>
            <a:r>
              <a:rPr lang="en-US" sz="1050" b="1" dirty="0">
                <a:solidFill>
                  <a:srgbClr val="0A9396"/>
                </a:solidFill>
              </a:rPr>
              <a:t>Group B (Test): </a:t>
            </a:r>
            <a:pPr indent="0" marL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1E293B"/>
                </a:solidFill>
              </a:rPr>
              <a:t>receives the new campaign variant.
</a:t>
            </a:r>
            <a:pPr indent="0" marL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1E293B"/>
                </a:solidFill>
              </a:rPr>
              <a:t>We then measure whether any difference in response rate is real — or just random chance.
</a:t>
            </a:r>
            <a:pPr indent="0" marL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1E293B"/>
                </a:solidFill>
              </a:rPr>
              <a:t>Our system monitors results in real time and raises an alert the moment there is enough evidence to make a confident decision — avoiding both premature stops and wasted spend.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480560" y="960120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What our system tracks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480560" y="1417320"/>
            <a:ext cx="4343400" cy="640080"/>
          </a:xfrm>
          <a:prstGeom prst="rect">
            <a:avLst/>
          </a:prstGeom>
          <a:solidFill>
            <a:srgbClr val="FFFFFF"/>
          </a:solidFill>
          <a:ln w="15240">
            <a:solidFill>
              <a:srgbClr val="E2EDF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480560" y="1417320"/>
            <a:ext cx="54864" cy="64008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45152" y="1472184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</a:rPr>
              <a:t>Sample Size Needed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645152" y="1746504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Calculated before the test starts — ensures we collect enough data to trust the result.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480560" y="2148840"/>
            <a:ext cx="4343400" cy="640080"/>
          </a:xfrm>
          <a:prstGeom prst="rect">
            <a:avLst/>
          </a:prstGeom>
          <a:solidFill>
            <a:srgbClr val="FFFFFF"/>
          </a:solidFill>
          <a:ln w="15240">
            <a:solidFill>
              <a:srgbClr val="E2EDF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480560" y="2148840"/>
            <a:ext cx="54864" cy="64008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45152" y="2203704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</a:rPr>
              <a:t>Response Rate Gap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645152" y="2478024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The actual difference in response between Group A and B — tracked live.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480560" y="2880360"/>
            <a:ext cx="4343400" cy="640080"/>
          </a:xfrm>
          <a:prstGeom prst="rect">
            <a:avLst/>
          </a:prstGeom>
          <a:solidFill>
            <a:srgbClr val="FFFFFF"/>
          </a:solidFill>
          <a:ln w="15240">
            <a:solidFill>
              <a:srgbClr val="E2EDF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480560" y="2880360"/>
            <a:ext cx="54864" cy="64008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45152" y="2935224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</a:rPr>
              <a:t>Statistical Significance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645152" y="3209544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Confidence that the gap is real and not random noise. We require 95% confidence.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480560" y="3611880"/>
            <a:ext cx="4343400" cy="640080"/>
          </a:xfrm>
          <a:prstGeom prst="rect">
            <a:avLst/>
          </a:prstGeom>
          <a:solidFill>
            <a:srgbClr val="FFFFFF"/>
          </a:solidFill>
          <a:ln w="15240">
            <a:solidFill>
              <a:srgbClr val="E2EDF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480560" y="3611880"/>
            <a:ext cx="54864" cy="64008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45152" y="3666744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</a:rPr>
              <a:t>Sequential Monitoring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645152" y="3941064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An O'Brien-Fleming boundary watches for a winner early — saving budget if one variant clearly wins.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480560" y="4343400"/>
            <a:ext cx="4343400" cy="640080"/>
          </a:xfrm>
          <a:prstGeom prst="rect">
            <a:avLst/>
          </a:prstGeom>
          <a:solidFill>
            <a:srgbClr val="FFFFFF"/>
          </a:solidFill>
          <a:ln w="15240">
            <a:solidFill>
              <a:srgbClr val="E2EDF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480560" y="4343400"/>
            <a:ext cx="54864" cy="640080"/>
          </a:xfrm>
          <a:prstGeom prst="rect">
            <a:avLst/>
          </a:prstGeom>
          <a:solidFill>
            <a:srgbClr val="EE9B00"/>
          </a:solidFill>
          <a:ln w="12700">
            <a:solidFill>
              <a:srgbClr val="EE9B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45152" y="4398264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</a:rPr>
              <a:t>Launch Decision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645152" y="4672584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System automatically recommends: Launch / Continue Testing / Abort based on live data.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Who Should We Target First?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65836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D2BD"/>
                </a:solidFill>
              </a:rPr>
              <a:t>Uplift modelling — find customers who respond BECAUSE of our campaign, not in spite of it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960120"/>
            <a:ext cx="8503920" cy="658368"/>
          </a:xfrm>
          <a:prstGeom prst="rect">
            <a:avLst/>
          </a:prstGeom>
          <a:solidFill>
            <a:srgbClr val="E8F4FB"/>
          </a:solidFill>
          <a:ln w="15240">
            <a:solidFill>
              <a:srgbClr val="E2EDF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960120"/>
            <a:ext cx="54864" cy="658368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024128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E293B"/>
                </a:solidFill>
              </a:rPr>
              <a:t>Traditional targeting hits everyone and hopes for the best. Uplift modelling is smarter — it identifies the specific customers who will change their behaviour as a direct result of receiving a campaign.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" y="1755648"/>
            <a:ext cx="1965960" cy="3127248"/>
          </a:xfrm>
          <a:prstGeom prst="rect">
            <a:avLst/>
          </a:prstGeom>
          <a:solidFill>
            <a:srgbClr val="FFFFFF"/>
          </a:solidFill>
          <a:ln w="15240">
            <a:solidFill>
              <a:srgbClr val="E2EDF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1755648"/>
            <a:ext cx="54864" cy="3127248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" y="1847088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🎯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66344" y="228600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Persuadables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66344" y="2651760"/>
            <a:ext cx="1463040" cy="219456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6344" y="2651760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HIGH PRIORITY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66344" y="2944368"/>
            <a:ext cx="1737360" cy="1810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94A3B8"/>
                </a:solidFill>
              </a:rPr>
              <a:t>Would not buy without the campaign.</a:t>
            </a:r>
            <a:endParaRPr lang="en-US" sz="9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94A3B8"/>
                </a:solidFill>
              </a:rPr>
              <a:t>This is your sweet spot — every marketing dollar spent here creates a genuine sale that would not have happened otherwise.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450592" y="1755648"/>
            <a:ext cx="1965960" cy="3127248"/>
          </a:xfrm>
          <a:prstGeom prst="rect">
            <a:avLst/>
          </a:prstGeom>
          <a:solidFill>
            <a:srgbClr val="FFFFFF"/>
          </a:solidFill>
          <a:ln w="15240">
            <a:solidFill>
              <a:srgbClr val="E2EDF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450592" y="1755648"/>
            <a:ext cx="54864" cy="312724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15184" y="1847088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✅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2596896" y="228600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Sure Things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596896" y="2651760"/>
            <a:ext cx="1463040" cy="219456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96896" y="2651760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LOW PRIORITY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2596896" y="2944368"/>
            <a:ext cx="1737360" cy="1810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94A3B8"/>
                </a:solidFill>
              </a:rPr>
              <a:t>Would buy regardless.</a:t>
            </a:r>
            <a:endParaRPr lang="en-US" sz="9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94A3B8"/>
                </a:solidFill>
              </a:rPr>
              <a:t>They respond to campaigns, but they would have bought anyway. Targeting them wastes budget — they don't need convincing.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581144" y="1755648"/>
            <a:ext cx="1965960" cy="3127248"/>
          </a:xfrm>
          <a:prstGeom prst="rect">
            <a:avLst/>
          </a:prstGeom>
          <a:solidFill>
            <a:srgbClr val="FFFFFF"/>
          </a:solidFill>
          <a:ln w="15240">
            <a:solidFill>
              <a:srgbClr val="E2EDF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581144" y="1755648"/>
            <a:ext cx="54864" cy="3127248"/>
          </a:xfrm>
          <a:prstGeom prst="rect">
            <a:avLst/>
          </a:prstGeom>
          <a:solidFill>
            <a:srgbClr val="AE2012"/>
          </a:solidFill>
          <a:ln w="12700">
            <a:solidFill>
              <a:srgbClr val="AE201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45736" y="1847088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💤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4727448" y="228600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Sleeping Dogs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727448" y="2651760"/>
            <a:ext cx="1463040" cy="219456"/>
          </a:xfrm>
          <a:prstGeom prst="rect">
            <a:avLst/>
          </a:prstGeom>
          <a:solidFill>
            <a:srgbClr val="AE2012"/>
          </a:solidFill>
          <a:ln w="12700">
            <a:solidFill>
              <a:srgbClr val="AE201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27448" y="2651760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AVOID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4727448" y="2944368"/>
            <a:ext cx="1737360" cy="1810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94A3B8"/>
                </a:solidFill>
              </a:rPr>
              <a:t>Would buy — until we contact them.</a:t>
            </a:r>
            <a:endParaRPr lang="en-US" sz="9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94A3B8"/>
                </a:solidFill>
              </a:rPr>
              <a:t>Contacting this group actually reduces their likelihood to purchase. Our outreach has a negative effect.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711696" y="1755648"/>
            <a:ext cx="1965960" cy="3127248"/>
          </a:xfrm>
          <a:prstGeom prst="rect">
            <a:avLst/>
          </a:prstGeom>
          <a:solidFill>
            <a:srgbClr val="FFFFFF"/>
          </a:solidFill>
          <a:ln w="15240">
            <a:solidFill>
              <a:srgbClr val="E2EDF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711696" y="1755648"/>
            <a:ext cx="54864" cy="3127248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876288" y="1847088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❌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6858000" y="228600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Lost Causes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858000" y="2651760"/>
            <a:ext cx="1463040" cy="219456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58000" y="2651760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DO NOT TARGET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6858000" y="2944368"/>
            <a:ext cx="1737360" cy="1810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94A3B8"/>
                </a:solidFill>
              </a:rPr>
              <a:t>Will not buy regardless.</a:t>
            </a:r>
            <a:endParaRPr lang="en-US" sz="9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94A3B8"/>
                </a:solidFill>
              </a:rPr>
              <a:t>No amount of campaign spend will convert this group. Remove from targeting lists to save cost.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320040" y="4983480"/>
            <a:ext cx="8503920" cy="164592"/>
          </a:xfrm>
          <a:prstGeom prst="rect">
            <a:avLst/>
          </a:prstGeom>
          <a:solidFill>
            <a:srgbClr val="FFF8E1"/>
          </a:solidFill>
          <a:ln w="15240">
            <a:solidFill>
              <a:srgbClr val="E2EDF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320040" y="4983480"/>
            <a:ext cx="54864" cy="164592"/>
          </a:xfrm>
          <a:prstGeom prst="rect">
            <a:avLst/>
          </a:prstGeom>
          <a:solidFill>
            <a:srgbClr val="EE9B00"/>
          </a:solidFill>
          <a:ln w="12700">
            <a:solidFill>
              <a:srgbClr val="EE9B0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02920" y="5001768"/>
            <a:ext cx="8229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📈  Our Qini curve confirms the model lifts ROI by targeting Persuadables first — validated on held-out test data.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Beyond Analysis: AI That Acts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65836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D2BD"/>
                </a:solidFill>
              </a:rPr>
              <a:t>Modules 10-13 — Agentic AI explained for business leaders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960120"/>
            <a:ext cx="8503920" cy="658368"/>
          </a:xfrm>
          <a:prstGeom prst="rect">
            <a:avLst/>
          </a:prstGeom>
          <a:solidFill>
            <a:srgbClr val="E8F4FB"/>
          </a:solidFill>
          <a:ln w="15240">
            <a:solidFill>
              <a:srgbClr val="E2EDF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960120"/>
            <a:ext cx="54864" cy="658368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024128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E293B"/>
                </a:solidFill>
              </a:rPr>
              <a:t>Traditional analytics tells you what happened. Agentic AI goes further — it monitors, decides, and acts autonomously, the way a skilled analyst would, but at machine speed and scale.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" y="1755648"/>
            <a:ext cx="4114800" cy="1828800"/>
          </a:xfrm>
          <a:prstGeom prst="rect">
            <a:avLst/>
          </a:prstGeom>
          <a:solidFill>
            <a:srgbClr val="F8F8F8"/>
          </a:solidFill>
          <a:ln w="15240">
            <a:solidFill>
              <a:srgbClr val="E2EDF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1755648"/>
            <a:ext cx="54864" cy="182880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184708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4A3B8"/>
                </a:solidFill>
              </a:rPr>
              <a:t>Traditional ML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2920" y="2267712"/>
            <a:ext cx="3749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</a:rPr>
              <a:t>Run model</a:t>
            </a:r>
            <a:endParaRPr lang="en-US" sz="105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</a:rPr>
              <a:t>Read output report</a:t>
            </a:r>
            <a:endParaRPr lang="en-US" sz="105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</a:rPr>
              <a:t>Human decides what to do</a:t>
            </a:r>
            <a:endParaRPr lang="en-US" sz="105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</a:rPr>
              <a:t>Human triggers next step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709160" y="1755648"/>
            <a:ext cx="4114800" cy="1828800"/>
          </a:xfrm>
          <a:prstGeom prst="rect">
            <a:avLst/>
          </a:prstGeom>
          <a:solidFill>
            <a:srgbClr val="EFF6FB"/>
          </a:solidFill>
          <a:ln w="15240">
            <a:solidFill>
              <a:srgbClr val="E2EDF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09160" y="1755648"/>
            <a:ext cx="54864" cy="182880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64608" y="184708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9396"/>
                </a:solidFill>
              </a:rPr>
              <a:t>Agentic AI (Modules 10-13)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864608" y="2267712"/>
            <a:ext cx="3749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</a:rPr>
              <a:t>Reads data automatically</a:t>
            </a:r>
            <a:endParaRPr lang="en-US" sz="105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</a:rPr>
              <a:t>Runs models and interprets results</a:t>
            </a:r>
            <a:endParaRPr lang="en-US" sz="105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</a:rPr>
              <a:t>Writes a business narrative</a:t>
            </a:r>
            <a:endParaRPr lang="en-US" sz="105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</a:rPr>
              <a:t>Recommends launch / abort / continue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20040" y="3730752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The four agentic modules in this platform: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20040" y="4114800"/>
            <a:ext cx="1993392" cy="804672"/>
          </a:xfrm>
          <a:prstGeom prst="rect">
            <a:avLst/>
          </a:prstGeom>
          <a:solidFill>
            <a:srgbClr val="FFFFFF"/>
          </a:solidFill>
          <a:ln w="15240">
            <a:solidFill>
              <a:srgbClr val="E2EDF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0040" y="4114800"/>
            <a:ext cx="54864" cy="804672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6344" y="4169664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M10  LLM Narrator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66344" y="4462272"/>
            <a:ext cx="1783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94A3B8"/>
                </a:solidFill>
              </a:rPr>
              <a:t>Reads charts and writes plain-English business commentary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2450592" y="4114800"/>
            <a:ext cx="1993392" cy="804672"/>
          </a:xfrm>
          <a:prstGeom prst="rect">
            <a:avLst/>
          </a:prstGeom>
          <a:solidFill>
            <a:srgbClr val="FFFFFF"/>
          </a:solidFill>
          <a:ln w="15240">
            <a:solidFill>
              <a:srgbClr val="E2EDF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450592" y="4114800"/>
            <a:ext cx="54864" cy="804672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596896" y="4169664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M11  A/B Testing Agent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596896" y="4462272"/>
            <a:ext cx="1783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94A3B8"/>
                </a:solidFill>
              </a:rPr>
              <a:t>Monitors live experiments and decides when to stop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581144" y="4114800"/>
            <a:ext cx="1993392" cy="804672"/>
          </a:xfrm>
          <a:prstGeom prst="rect">
            <a:avLst/>
          </a:prstGeom>
          <a:solidFill>
            <a:srgbClr val="FFFFFF"/>
          </a:solidFill>
          <a:ln w="15240">
            <a:solidFill>
              <a:srgbClr val="E2EDF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581144" y="4114800"/>
            <a:ext cx="54864" cy="804672"/>
          </a:xfrm>
          <a:prstGeom prst="rect">
            <a:avLst/>
          </a:prstGeom>
          <a:solidFill>
            <a:srgbClr val="EE9B00"/>
          </a:solidFill>
          <a:ln w="12700">
            <a:solidFill>
              <a:srgbClr val="EE9B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27448" y="4169664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M12  Causal Uplift Engine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727448" y="4462272"/>
            <a:ext cx="1783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94A3B8"/>
                </a:solidFill>
              </a:rPr>
              <a:t>Finds who to target based on cause, not just correlation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6711696" y="4114800"/>
            <a:ext cx="1993392" cy="804672"/>
          </a:xfrm>
          <a:prstGeom prst="rect">
            <a:avLst/>
          </a:prstGeom>
          <a:solidFill>
            <a:srgbClr val="FFFFFF"/>
          </a:solidFill>
          <a:ln w="15240">
            <a:solidFill>
              <a:srgbClr val="E2EDF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711696" y="4114800"/>
            <a:ext cx="54864" cy="804672"/>
          </a:xfrm>
          <a:prstGeom prst="rect">
            <a:avLst/>
          </a:prstGeom>
          <a:solidFill>
            <a:srgbClr val="AE2012"/>
          </a:solidFill>
          <a:ln w="12700">
            <a:solidFill>
              <a:srgbClr val="AE201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858000" y="4169664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M13  Multi-Agent Pipeline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858000" y="4462272"/>
            <a:ext cx="1783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94A3B8"/>
                </a:solidFill>
              </a:rPr>
              <a:t>Three specialised AIs collaborate to write the CMO report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Modules 10 &amp; 11 — AI That Reads and Decides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65836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D2BD"/>
                </a:solidFill>
              </a:rPr>
              <a:t>LLM Narrator  ·  A/B Testing Agent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960120"/>
            <a:ext cx="4114800" cy="3913632"/>
          </a:xfrm>
          <a:prstGeom prst="rect">
            <a:avLst/>
          </a:prstGeom>
          <a:solidFill>
            <a:srgbClr val="EFF6FB"/>
          </a:solidFill>
          <a:ln w="15240">
            <a:solidFill>
              <a:srgbClr val="E2EDF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960120"/>
            <a:ext cx="54864" cy="3913632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05156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Module 10 — LLM Narrator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1481328"/>
            <a:ext cx="374904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20" b="1" dirty="0">
                <a:solidFill>
                  <a:srgbClr val="0A9396"/>
                </a:solidFill>
              </a:rPr>
              <a:t>The Problem
</a:t>
            </a:r>
            <a:pPr indent="0" marL="0">
              <a:lnSpc>
                <a:spcPct val="140000"/>
              </a:lnSpc>
              <a:buNone/>
            </a:pPr>
            <a:r>
              <a:rPr lang="en-US" sz="1020" dirty="0">
                <a:solidFill>
                  <a:srgbClr val="1E293B"/>
                </a:solidFill>
              </a:rPr>
              <a:t>Charts show numbers. Executives need conclusions. Turning a chart into a business sentence used to require a human analyst.
</a:t>
            </a:r>
            <a:pPr indent="0" marL="0">
              <a:lnSpc>
                <a:spcPct val="140000"/>
              </a:lnSpc>
              <a:buNone/>
            </a:pPr>
            <a:r>
              <a:rPr lang="en-US" sz="1020" b="1" dirty="0">
                <a:solidFill>
                  <a:srgbClr val="0A9396"/>
                </a:solidFill>
              </a:rPr>
              <a:t>What it does
</a:t>
            </a:r>
            <a:pPr indent="0" marL="0">
              <a:lnSpc>
                <a:spcPct val="140000"/>
              </a:lnSpc>
              <a:buNone/>
            </a:pPr>
            <a:r>
              <a:rPr lang="en-US" sz="1020" dirty="0">
                <a:solidFill>
                  <a:srgbClr val="1E293B"/>
                </a:solidFill>
              </a:rPr>
              <a:t>The Narrator reads each chart's underlying data and writes a business-ready sentence automatically.
</a:t>
            </a:r>
            <a:pPr indent="0" marL="0">
              <a:lnSpc>
                <a:spcPct val="140000"/>
              </a:lnSpc>
              <a:buNone/>
            </a:pPr>
            <a:r>
              <a:rPr lang="en-US" sz="1020" b="1" dirty="0">
                <a:solidFill>
                  <a:srgbClr val="0A9396"/>
                </a:solidFill>
              </a:rPr>
              <a:t>Example output:
</a:t>
            </a:r>
            <a:pPr indent="0" marL="0">
              <a:lnSpc>
                <a:spcPct val="140000"/>
              </a:lnSpc>
              <a:buNone/>
            </a:pPr>
            <a:r>
              <a:rPr lang="en-US" sz="1020" i="1" dirty="0">
                <a:solidFill>
                  <a:srgbClr val="1E293B"/>
                </a:solidFill>
              </a:rPr>
              <a:t>"Catalog channel drives the highest revenue per customer at $248 average spend, making it the top ROI channel despite lower volume than Web."
</a:t>
            </a:r>
            <a:pPr indent="0" marL="0">
              <a:lnSpc>
                <a:spcPct val="140000"/>
              </a:lnSpc>
              <a:buNone/>
            </a:pPr>
            <a:r>
              <a:rPr lang="en-US" sz="1020" dirty="0">
                <a:solidFill>
                  <a:srgbClr val="94A3B8"/>
                </a:solidFill>
              </a:rPr>
              <a:t>No human wrote that. The AI read the chart and wrote it.</a:t>
            </a:r>
            <a:endParaRPr lang="en-US" sz="1020" dirty="0"/>
          </a:p>
        </p:txBody>
      </p:sp>
      <p:sp>
        <p:nvSpPr>
          <p:cNvPr id="10" name="Shape 8"/>
          <p:cNvSpPr/>
          <p:nvPr/>
        </p:nvSpPr>
        <p:spPr>
          <a:xfrm>
            <a:off x="4709160" y="960120"/>
            <a:ext cx="4114800" cy="3913632"/>
          </a:xfrm>
          <a:prstGeom prst="rect">
            <a:avLst/>
          </a:prstGeom>
          <a:solidFill>
            <a:srgbClr val="F4F8FB"/>
          </a:solidFill>
          <a:ln w="15240">
            <a:solidFill>
              <a:srgbClr val="E2EDF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09160" y="960120"/>
            <a:ext cx="54864" cy="3913632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64608" y="105156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Module 11 — A/B Testing Agent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64608" y="1481328"/>
            <a:ext cx="37490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20" b="1" dirty="0">
                <a:solidFill>
                  <a:srgbClr val="0D2137"/>
                </a:solidFill>
              </a:rPr>
              <a:t>The Problem
</a:t>
            </a:r>
            <a:pPr indent="0" marL="0">
              <a:lnSpc>
                <a:spcPct val="140000"/>
              </a:lnSpc>
              <a:buNone/>
            </a:pPr>
            <a:r>
              <a:rPr lang="en-US" sz="1020" dirty="0">
                <a:solidFill>
                  <a:srgbClr val="1E293B"/>
                </a:solidFill>
              </a:rPr>
              <a:t>Stopping an A/B test too early produces false winners. Stopping too late wastes budget. Humans are poor judges of when to stop.
</a:t>
            </a:r>
            <a:pPr indent="0" marL="0">
              <a:lnSpc>
                <a:spcPct val="140000"/>
              </a:lnSpc>
              <a:buNone/>
            </a:pPr>
            <a:r>
              <a:rPr lang="en-US" sz="1020" b="1" dirty="0">
                <a:solidFill>
                  <a:srgbClr val="0D2137"/>
                </a:solidFill>
              </a:rPr>
              <a:t>What it does
</a:t>
            </a:r>
            <a:pPr indent="0" marL="0">
              <a:lnSpc>
                <a:spcPct val="140000"/>
              </a:lnSpc>
              <a:buNone/>
            </a:pPr>
            <a:r>
              <a:rPr lang="en-US" sz="1020" dirty="0">
                <a:solidFill>
                  <a:srgbClr val="1E293B"/>
                </a:solidFill>
              </a:rPr>
              <a:t>The Agent monitors results using an O'Brien-Fleming boundary — a statistical guardrail that controls false alarms. It raises an autonomous decision:
</a:t>
            </a:r>
            <a:endParaRPr lang="en-US" sz="1020" dirty="0"/>
          </a:p>
        </p:txBody>
      </p:sp>
      <p:sp>
        <p:nvSpPr>
          <p:cNvPr id="14" name="Shape 12"/>
          <p:cNvSpPr/>
          <p:nvPr/>
        </p:nvSpPr>
        <p:spPr>
          <a:xfrm>
            <a:off x="4864608" y="3493008"/>
            <a:ext cx="3611880" cy="347472"/>
          </a:xfrm>
          <a:prstGeom prst="rect">
            <a:avLst/>
          </a:prstGeom>
          <a:solidFill>
            <a:srgbClr val="E8F8F4"/>
          </a:solidFill>
          <a:ln w="15240">
            <a:solidFill>
              <a:srgbClr val="0A939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19472" y="353872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A9396"/>
                </a:solidFill>
              </a:rPr>
              <a:t>LAUNCH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61888" y="3538728"/>
            <a:ext cx="2450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Winner found — roll out now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864608" y="3913632"/>
            <a:ext cx="3611880" cy="347472"/>
          </a:xfrm>
          <a:prstGeom prst="rect">
            <a:avLst/>
          </a:prstGeom>
          <a:solidFill>
            <a:srgbClr val="FFF8E1"/>
          </a:solidFill>
          <a:ln w="15240">
            <a:solidFill>
              <a:srgbClr val="EE9B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19472" y="395935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E9B00"/>
                </a:solidFill>
              </a:rPr>
              <a:t>CONTINUE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961888" y="3959352"/>
            <a:ext cx="2450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More data needed — keep running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864608" y="4334256"/>
            <a:ext cx="3611880" cy="347472"/>
          </a:xfrm>
          <a:prstGeom prst="rect">
            <a:avLst/>
          </a:prstGeom>
          <a:solidFill>
            <a:srgbClr val="FDEEEC"/>
          </a:solidFill>
          <a:ln w="15240">
            <a:solidFill>
              <a:srgbClr val="AE201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19472" y="4379976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AE2012"/>
                </a:solidFill>
              </a:rPr>
              <a:t>ABORT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961888" y="4379976"/>
            <a:ext cx="2450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No signal — cut losses, stop spending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864608" y="4791456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</a:rPr>
              <a:t>Zero human intervention required once the test is running.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Module 12 — Why Causal Uplift Changes Everything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65836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D2BD"/>
                </a:solidFill>
              </a:rPr>
              <a:t>The difference between correlation and causation in marketing spend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960120"/>
            <a:ext cx="8503920" cy="713232"/>
          </a:xfrm>
          <a:prstGeom prst="rect">
            <a:avLst/>
          </a:prstGeom>
          <a:solidFill>
            <a:srgbClr val="FFF8E1"/>
          </a:solidFill>
          <a:ln w="15240">
            <a:solidFill>
              <a:srgbClr val="E2EDF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960120"/>
            <a:ext cx="54864" cy="713232"/>
          </a:xfrm>
          <a:prstGeom prst="rect">
            <a:avLst/>
          </a:prstGeom>
          <a:solidFill>
            <a:srgbClr val="EE9B00"/>
          </a:solidFill>
          <a:ln w="12700">
            <a:solidFill>
              <a:srgbClr val="EE9B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0058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E293B"/>
                </a:solidFill>
              </a:rPr>
              <a:t>The Expensive Mistake Most Marketers Make: targeting customers who look like they will respond — instead of customers who will respond BECAUSE of the campaign.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" y="1810512"/>
            <a:ext cx="4023360" cy="2121408"/>
          </a:xfrm>
          <a:prstGeom prst="rect">
            <a:avLst/>
          </a:prstGeom>
          <a:solidFill>
            <a:srgbClr val="FDF2F2"/>
          </a:solidFill>
          <a:ln w="15240">
            <a:solidFill>
              <a:srgbClr val="E2EDF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1810512"/>
            <a:ext cx="54864" cy="2121408"/>
          </a:xfrm>
          <a:prstGeom prst="rect">
            <a:avLst/>
          </a:prstGeom>
          <a:solidFill>
            <a:srgbClr val="AE2012"/>
          </a:solidFill>
          <a:ln w="12700">
            <a:solidFill>
              <a:srgbClr val="AE201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190195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AE2012"/>
                </a:solidFill>
              </a:rPr>
              <a:t>The Old Way — Correlation Targeting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02920" y="2331720"/>
            <a:ext cx="3657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2000"/>
              </a:lnSpc>
              <a:buNone/>
            </a:pPr>
            <a:r>
              <a:rPr lang="en-US" sz="1020" b="1" dirty="0">
                <a:solidFill>
                  <a:srgbClr val="1E293B"/>
                </a:solidFill>
              </a:rPr>
              <a:t>Logic: </a:t>
            </a:r>
            <a:pPr indent="0" marL="0">
              <a:lnSpc>
                <a:spcPct val="142000"/>
              </a:lnSpc>
              <a:buNone/>
            </a:pPr>
            <a:r>
              <a:rPr lang="en-US" sz="1020" i="1" dirty="0">
                <a:solidFill>
                  <a:srgbClr val="1E293B"/>
                </a:solidFill>
              </a:rPr>
              <a:t>"High-income customers buy wine. Target high-income customers."
</a:t>
            </a:r>
            <a:pPr indent="0" marL="0">
              <a:lnSpc>
                <a:spcPct val="142000"/>
              </a:lnSpc>
              <a:buNone/>
            </a:pPr>
            <a:r>
              <a:rPr lang="en-US" sz="1020" b="1" dirty="0">
                <a:solidFill>
                  <a:srgbClr val="1E293B"/>
                </a:solidFill>
              </a:rPr>
              <a:t>Problem: </a:t>
            </a:r>
            <a:pPr indent="0" marL="0">
              <a:lnSpc>
                <a:spcPct val="142000"/>
              </a:lnSpc>
              <a:buNone/>
            </a:pPr>
            <a:r>
              <a:rPr lang="en-US" sz="1020" dirty="0">
                <a:solidFill>
                  <a:srgbClr val="1E293B"/>
                </a:solidFill>
              </a:rPr>
              <a:t>those customers were going to buy anyway. Budget spent confirming what would happen regardless.
</a:t>
            </a:r>
            <a:pPr indent="0" marL="0">
              <a:lnSpc>
                <a:spcPct val="142000"/>
              </a:lnSpc>
              <a:buNone/>
            </a:pPr>
            <a:r>
              <a:rPr lang="en-US" sz="1020" b="1" dirty="0">
                <a:solidFill>
                  <a:srgbClr val="1E293B"/>
                </a:solidFill>
              </a:rPr>
              <a:t>Result: </a:t>
            </a:r>
            <a:pPr indent="0" marL="0">
              <a:lnSpc>
                <a:spcPct val="142000"/>
              </a:lnSpc>
              <a:buNone/>
            </a:pPr>
            <a:r>
              <a:rPr lang="en-US" sz="1020" dirty="0">
                <a:solidFill>
                  <a:srgbClr val="1E293B"/>
                </a:solidFill>
              </a:rPr>
              <a:t>inflated response rates. No actual incremental revenue.</a:t>
            </a:r>
            <a:endParaRPr lang="en-US" sz="1020" dirty="0"/>
          </a:p>
        </p:txBody>
      </p:sp>
      <p:sp>
        <p:nvSpPr>
          <p:cNvPr id="13" name="Shape 11"/>
          <p:cNvSpPr/>
          <p:nvPr/>
        </p:nvSpPr>
        <p:spPr>
          <a:xfrm>
            <a:off x="4800600" y="1810512"/>
            <a:ext cx="4023360" cy="2121408"/>
          </a:xfrm>
          <a:prstGeom prst="rect">
            <a:avLst/>
          </a:prstGeom>
          <a:solidFill>
            <a:srgbClr val="EFF6FB"/>
          </a:solidFill>
          <a:ln w="15240">
            <a:solidFill>
              <a:srgbClr val="E2EDF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800600" y="1810512"/>
            <a:ext cx="54864" cy="2121408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56048" y="190195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A9396"/>
                </a:solidFill>
              </a:rPr>
              <a:t>The Causal Way — Uplift Targeting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956048" y="2331720"/>
            <a:ext cx="3657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2000"/>
              </a:lnSpc>
              <a:buNone/>
            </a:pPr>
            <a:r>
              <a:rPr lang="en-US" sz="1020" b="1" dirty="0">
                <a:solidFill>
                  <a:srgbClr val="1E293B"/>
                </a:solidFill>
              </a:rPr>
              <a:t>Logic: </a:t>
            </a:r>
            <a:pPr indent="0" marL="0">
              <a:lnSpc>
                <a:spcPct val="142000"/>
              </a:lnSpc>
              <a:buNone/>
            </a:pPr>
            <a:r>
              <a:rPr lang="en-US" sz="1020" i="1" dirty="0">
                <a:solidFill>
                  <a:srgbClr val="1E293B"/>
                </a:solidFill>
              </a:rPr>
              <a:t>"Which specific customer changed their behaviour because of our campaign?"
</a:t>
            </a:r>
            <a:pPr indent="0" marL="0">
              <a:lnSpc>
                <a:spcPct val="142000"/>
              </a:lnSpc>
              <a:buNone/>
            </a:pPr>
            <a:r>
              <a:rPr lang="en-US" sz="1020" b="1" dirty="0">
                <a:solidFill>
                  <a:srgbClr val="1E293B"/>
                </a:solidFill>
              </a:rPr>
              <a:t>Method: </a:t>
            </a:r>
            <a:pPr indent="0" marL="0">
              <a:lnSpc>
                <a:spcPct val="142000"/>
              </a:lnSpc>
              <a:buNone/>
            </a:pPr>
            <a:r>
              <a:rPr lang="en-US" sz="1020" dirty="0">
                <a:solidFill>
                  <a:srgbClr val="1E293B"/>
                </a:solidFill>
              </a:rPr>
              <a:t>T-Learner model estimates the causal effect per individual — not average group behaviour.
</a:t>
            </a:r>
            <a:pPr indent="0" marL="0">
              <a:lnSpc>
                <a:spcPct val="142000"/>
              </a:lnSpc>
              <a:buNone/>
            </a:pPr>
            <a:r>
              <a:rPr lang="en-US" sz="1020" b="1" dirty="0">
                <a:solidFill>
                  <a:srgbClr val="1E293B"/>
                </a:solidFill>
              </a:rPr>
              <a:t>Result: </a:t>
            </a:r>
            <a:pPr indent="0" marL="0">
              <a:lnSpc>
                <a:spcPct val="142000"/>
              </a:lnSpc>
              <a:buNone/>
            </a:pPr>
            <a:r>
              <a:rPr lang="en-US" sz="1020" dirty="0">
                <a:solidFill>
                  <a:srgbClr val="1E293B"/>
                </a:solidFill>
              </a:rPr>
              <a:t>target only customers where spend creates genuine incremental sales.</a:t>
            </a:r>
            <a:endParaRPr lang="en-US" sz="1020" dirty="0"/>
          </a:p>
        </p:txBody>
      </p:sp>
      <p:sp>
        <p:nvSpPr>
          <p:cNvPr id="17" name="Text 15"/>
          <p:cNvSpPr/>
          <p:nvPr/>
        </p:nvSpPr>
        <p:spPr>
          <a:xfrm>
            <a:off x="320040" y="4041648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What this means in numbers: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20040" y="4370832"/>
            <a:ext cx="1965960" cy="594360"/>
          </a:xfrm>
          <a:prstGeom prst="rect">
            <a:avLst/>
          </a:prstGeom>
          <a:solidFill>
            <a:srgbClr val="FFFFFF"/>
          </a:solidFill>
          <a:ln w="15240">
            <a:solidFill>
              <a:srgbClr val="E2EDF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0040" y="4370832"/>
            <a:ext cx="54864" cy="59436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6344" y="4425696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9396"/>
                </a:solidFill>
              </a:rPr>
              <a:t>~28%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344168" y="4425696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94A3B8"/>
                </a:solidFill>
              </a:rPr>
              <a:t>of customers are</a:t>
            </a:r>
            <a:endParaRPr lang="en-US" sz="8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94A3B8"/>
                </a:solidFill>
              </a:rPr>
              <a:t>true Persuadables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2450592" y="4370832"/>
            <a:ext cx="1965960" cy="594360"/>
          </a:xfrm>
          <a:prstGeom prst="rect">
            <a:avLst/>
          </a:prstGeom>
          <a:solidFill>
            <a:srgbClr val="FFFFFF"/>
          </a:solidFill>
          <a:ln w="15240">
            <a:solidFill>
              <a:srgbClr val="E2EDF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450592" y="4370832"/>
            <a:ext cx="54864" cy="594360"/>
          </a:xfrm>
          <a:prstGeom prst="rect">
            <a:avLst/>
          </a:prstGeom>
          <a:solidFill>
            <a:srgbClr val="EE9B00"/>
          </a:solidFill>
          <a:ln w="12700">
            <a:solidFill>
              <a:srgbClr val="EE9B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596896" y="4425696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E9B00"/>
                </a:solidFill>
              </a:rPr>
              <a:t>~42%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3474720" y="4425696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94A3B8"/>
                </a:solidFill>
              </a:rPr>
              <a:t>are Sure Things</a:t>
            </a:r>
            <a:endParaRPr lang="en-US" sz="8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94A3B8"/>
                </a:solidFill>
              </a:rPr>
              <a:t>(waste if targeted)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581144" y="4370832"/>
            <a:ext cx="1965960" cy="594360"/>
          </a:xfrm>
          <a:prstGeom prst="rect">
            <a:avLst/>
          </a:prstGeom>
          <a:solidFill>
            <a:srgbClr val="FFFFFF"/>
          </a:solidFill>
          <a:ln w="15240">
            <a:solidFill>
              <a:srgbClr val="E2EDF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581144" y="4370832"/>
            <a:ext cx="54864" cy="594360"/>
          </a:xfrm>
          <a:prstGeom prst="rect">
            <a:avLst/>
          </a:prstGeom>
          <a:solidFill>
            <a:srgbClr val="AE2012"/>
          </a:solidFill>
          <a:ln w="12700">
            <a:solidFill>
              <a:srgbClr val="AE201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27448" y="4425696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AE2012"/>
                </a:solidFill>
              </a:rPr>
              <a:t>~12%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5605272" y="4425696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94A3B8"/>
                </a:solidFill>
              </a:rPr>
              <a:t>are Sleeping Dogs</a:t>
            </a:r>
            <a:endParaRPr lang="en-US" sz="8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94A3B8"/>
                </a:solidFill>
              </a:rPr>
              <a:t>(harmed by outreach)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6711696" y="4370832"/>
            <a:ext cx="1965960" cy="594360"/>
          </a:xfrm>
          <a:prstGeom prst="rect">
            <a:avLst/>
          </a:prstGeom>
          <a:solidFill>
            <a:srgbClr val="FFFFFF"/>
          </a:solidFill>
          <a:ln w="15240">
            <a:solidFill>
              <a:srgbClr val="E2EDF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711696" y="4370832"/>
            <a:ext cx="54864" cy="59436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858000" y="4425696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9396"/>
                </a:solidFill>
              </a:rPr>
              <a:t>15-22%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7735824" y="4425696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94A3B8"/>
                </a:solidFill>
              </a:rPr>
              <a:t>projected ROI lift</a:t>
            </a:r>
            <a:endParaRPr lang="en-US" sz="8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94A3B8"/>
                </a:solidFill>
              </a:rPr>
              <a:t>from causal targeting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Module 13 — Three AIs Collaborate to Write the Report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65836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D2BD"/>
                </a:solidFill>
              </a:rPr>
              <a:t>Multi-Agent Pipeline: DataAgent -&gt; ModelAgent -&gt; ReportAgent -&gt; CMO Summary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960120"/>
            <a:ext cx="8503920" cy="594360"/>
          </a:xfrm>
          <a:prstGeom prst="rect">
            <a:avLst/>
          </a:prstGeom>
          <a:solidFill>
            <a:srgbClr val="E8F4FB"/>
          </a:solidFill>
          <a:ln w="15240">
            <a:solidFill>
              <a:srgbClr val="E2EDF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960120"/>
            <a:ext cx="54864" cy="59436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00584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080" dirty="0">
                <a:solidFill>
                  <a:srgbClr val="1E293B"/>
                </a:solidFill>
              </a:rPr>
              <a:t>Instead of one AI doing everything, three specialised agents — each expert in one task — hand off to each other like a well-run team. The final output is an executive-ready CMO summary written entirely by AI.</a:t>
            </a:r>
            <a:endParaRPr lang="en-US" sz="1080" dirty="0"/>
          </a:p>
        </p:txBody>
      </p:sp>
      <p:sp>
        <p:nvSpPr>
          <p:cNvPr id="9" name="Shape 7"/>
          <p:cNvSpPr/>
          <p:nvPr/>
        </p:nvSpPr>
        <p:spPr>
          <a:xfrm>
            <a:off x="320040" y="1691640"/>
            <a:ext cx="2606040" cy="3035808"/>
          </a:xfrm>
          <a:prstGeom prst="rect">
            <a:avLst/>
          </a:prstGeom>
          <a:solidFill>
            <a:srgbClr val="FFFFFF"/>
          </a:solidFill>
          <a:ln w="15240">
            <a:solidFill>
              <a:srgbClr val="E2EDF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1691640"/>
            <a:ext cx="54864" cy="3035808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6344" y="175564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A9396"/>
                </a:solidFill>
              </a:rPr>
              <a:t>Step 1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466344" y="2029968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Data Agent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66344" y="2432304"/>
            <a:ext cx="2286000" cy="36576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6344" y="2542032"/>
            <a:ext cx="2395728" cy="2029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94A3B8"/>
                </a:solidFill>
              </a:rPr>
              <a:t>Reads the clean dataset.</a:t>
            </a:r>
            <a:endParaRPr lang="en-US" sz="95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94A3B8"/>
                </a:solidFill>
              </a:rPr>
              <a:t>Checks data quality.</a:t>
            </a:r>
            <a:endParaRPr lang="en-US" sz="95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94A3B8"/>
                </a:solidFill>
              </a:rPr>
              <a:t>Summarises key stats: row count, response rate, top features.</a:t>
            </a:r>
            <a:endParaRPr lang="en-US" sz="95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94A3B8"/>
                </a:solidFill>
              </a:rPr>
              <a:t>Outputs a structured data brief.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953512" y="3017520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9396"/>
                </a:solidFill>
              </a:rPr>
              <a:t>-&gt;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227832" y="1691640"/>
            <a:ext cx="2606040" cy="3035808"/>
          </a:xfrm>
          <a:prstGeom prst="rect">
            <a:avLst/>
          </a:prstGeom>
          <a:solidFill>
            <a:srgbClr val="FFFFFF"/>
          </a:solidFill>
          <a:ln w="15240">
            <a:solidFill>
              <a:srgbClr val="E2EDF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27832" y="1691640"/>
            <a:ext cx="54864" cy="3035808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74136" y="175564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2137"/>
                </a:solidFill>
              </a:rPr>
              <a:t>Step 2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3374136" y="2029968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Model Agent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3374136" y="2432304"/>
            <a:ext cx="2286000" cy="36576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74136" y="2542032"/>
            <a:ext cx="2395728" cy="2029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94A3B8"/>
                </a:solidFill>
              </a:rPr>
              <a:t>Receives the data brief.</a:t>
            </a:r>
            <a:endParaRPr lang="en-US" sz="95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94A3B8"/>
                </a:solidFill>
              </a:rPr>
              <a:t>Runs the ML models.</a:t>
            </a:r>
            <a:endParaRPr lang="en-US" sz="95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94A3B8"/>
                </a:solidFill>
              </a:rPr>
              <a:t>Reads AUC scores, feature importances, uplift segments.</a:t>
            </a:r>
            <a:endParaRPr lang="en-US" sz="95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94A3B8"/>
                </a:solidFill>
              </a:rPr>
              <a:t>Outputs a model findings brief.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861304" y="3017520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9396"/>
                </a:solidFill>
              </a:rPr>
              <a:t>-&gt;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135624" y="1691640"/>
            <a:ext cx="2606040" cy="3035808"/>
          </a:xfrm>
          <a:prstGeom prst="rect">
            <a:avLst/>
          </a:prstGeom>
          <a:solidFill>
            <a:srgbClr val="FFFFFF"/>
          </a:solidFill>
          <a:ln w="15240">
            <a:solidFill>
              <a:srgbClr val="E2EDF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135624" y="1691640"/>
            <a:ext cx="54864" cy="3035808"/>
          </a:xfrm>
          <a:prstGeom prst="rect">
            <a:avLst/>
          </a:prstGeom>
          <a:solidFill>
            <a:srgbClr val="EE9B00"/>
          </a:solidFill>
          <a:ln w="12700">
            <a:solidFill>
              <a:srgbClr val="EE9B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81928" y="175564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E9B00"/>
                </a:solidFill>
              </a:rPr>
              <a:t>Step 3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6281928" y="2029968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Report Agent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6281928" y="2432304"/>
            <a:ext cx="2286000" cy="36576"/>
          </a:xfrm>
          <a:prstGeom prst="rect">
            <a:avLst/>
          </a:prstGeom>
          <a:solidFill>
            <a:srgbClr val="EE9B00"/>
          </a:solidFill>
          <a:ln w="12700">
            <a:solidFill>
              <a:srgbClr val="EE9B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81928" y="2542032"/>
            <a:ext cx="2395728" cy="2029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94A3B8"/>
                </a:solidFill>
              </a:rPr>
              <a:t>Receives both briefs.</a:t>
            </a:r>
            <a:endParaRPr lang="en-US" sz="95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94A3B8"/>
                </a:solidFill>
              </a:rPr>
              <a:t>Writes the full CMO summary: key findings, top 3 actions, expected business impact.</a:t>
            </a:r>
            <a:endParaRPr lang="en-US" sz="95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94A3B8"/>
                </a:solidFill>
              </a:rPr>
              <a:t>In plain English. No charts.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20040" y="4828032"/>
            <a:ext cx="8503920" cy="201168"/>
          </a:xfrm>
          <a:prstGeom prst="rect">
            <a:avLst/>
          </a:prstGeom>
          <a:solidFill>
            <a:srgbClr val="0D2137"/>
          </a:solidFill>
          <a:ln w="15240">
            <a:solidFill>
              <a:srgbClr val="E2EDF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502920" y="4846320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D2BD"/>
                </a:solidFill>
              </a:rPr>
              <a:t>CMO Output (AI-written): "Revenue at risk from Sleeping Dog segment is estimated at $18K/quarter. Recommend immediate suppression from all outreach lists."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Key Recommendations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65836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D2BD"/>
                </a:solidFill>
              </a:rPr>
              <a:t>Six actions the business can take immediately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987552"/>
            <a:ext cx="4206240" cy="1261872"/>
          </a:xfrm>
          <a:prstGeom prst="rect">
            <a:avLst/>
          </a:prstGeom>
          <a:solidFill>
            <a:srgbClr val="FFFFFF"/>
          </a:solidFill>
          <a:ln w="15240">
            <a:solidFill>
              <a:srgbClr val="E2EDF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987552"/>
            <a:ext cx="54864" cy="1261872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6344" y="1078992"/>
            <a:ext cx="411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9396"/>
                </a:solidFill>
              </a:rPr>
              <a:t>01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14400" y="1078992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</a:rPr>
              <a:t>Prioritise Persuadable Customers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914400" y="1463040"/>
            <a:ext cx="3474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94A3B8"/>
                </a:solidFill>
              </a:rPr>
              <a:t>Use uplift model output to restrict campaign outreach to the ~28% of customers identified as Persuadable. Expected lift: 15–22% improvement in campaign ROI.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20040" y="2359152"/>
            <a:ext cx="4206240" cy="1261872"/>
          </a:xfrm>
          <a:prstGeom prst="rect">
            <a:avLst/>
          </a:prstGeom>
          <a:solidFill>
            <a:srgbClr val="FFFFFF"/>
          </a:solidFill>
          <a:ln w="15240">
            <a:solidFill>
              <a:srgbClr val="E2EDF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" y="2359152"/>
            <a:ext cx="54864" cy="1261872"/>
          </a:xfrm>
          <a:prstGeom prst="rect">
            <a:avLst/>
          </a:prstGeom>
          <a:solidFill>
            <a:srgbClr val="EE9B00"/>
          </a:solidFill>
          <a:ln w="12700">
            <a:solidFill>
              <a:srgbClr val="EE9B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" y="2450592"/>
            <a:ext cx="411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E9B00"/>
                </a:solidFill>
              </a:rPr>
              <a:t>02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914400" y="2450592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</a:rPr>
              <a:t>Shift Budget Toward Catalog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914400" y="2834640"/>
            <a:ext cx="3474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94A3B8"/>
                </a:solidFill>
              </a:rPr>
              <a:t>Catalog delivers strong ROI per dollar (392%). Reallocate at least 30% of campaign spend here, focused on high-income wine/meat segments.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20040" y="3730752"/>
            <a:ext cx="4206240" cy="1261872"/>
          </a:xfrm>
          <a:prstGeom prst="rect">
            <a:avLst/>
          </a:prstGeom>
          <a:solidFill>
            <a:srgbClr val="FFFFFF"/>
          </a:solidFill>
          <a:ln w="15240">
            <a:solidFill>
              <a:srgbClr val="E2EDF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3730752"/>
            <a:ext cx="54864" cy="1261872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6344" y="3822192"/>
            <a:ext cx="411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9396"/>
                </a:solidFill>
              </a:rPr>
              <a:t>03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914400" y="3822192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</a:rPr>
              <a:t>Personalise Channel per Customer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914400" y="4206240"/>
            <a:ext cx="3474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94A3B8"/>
                </a:solidFill>
              </a:rPr>
              <a:t>Stop one-size-fits-all channel blasts. Use the AI recommender to route each customer to their highest-affinity channel — Web, Catalog, Store, or Deals.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754880" y="987552"/>
            <a:ext cx="4206240" cy="1261872"/>
          </a:xfrm>
          <a:prstGeom prst="rect">
            <a:avLst/>
          </a:prstGeom>
          <a:solidFill>
            <a:srgbClr val="FFFFFF"/>
          </a:solidFill>
          <a:ln w="15240">
            <a:solidFill>
              <a:srgbClr val="E2EDF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54880" y="987552"/>
            <a:ext cx="54864" cy="1261872"/>
          </a:xfrm>
          <a:prstGeom prst="rect">
            <a:avLst/>
          </a:prstGeom>
          <a:solidFill>
            <a:srgbClr val="EE9B00"/>
          </a:solidFill>
          <a:ln w="12700">
            <a:solidFill>
              <a:srgbClr val="EE9B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01184" y="1078992"/>
            <a:ext cx="411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E9B00"/>
                </a:solidFill>
              </a:rPr>
              <a:t>04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5349240" y="1078992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</a:rPr>
              <a:t>Run All New Campaigns as A/B Tests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5349240" y="1463040"/>
            <a:ext cx="3474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94A3B8"/>
                </a:solidFill>
              </a:rPr>
              <a:t>The sequential monitoring framework is built and ready. Every new campaign variant should route 20% of budget to a test cell before full rollout.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754880" y="2359152"/>
            <a:ext cx="4206240" cy="1261872"/>
          </a:xfrm>
          <a:prstGeom prst="rect">
            <a:avLst/>
          </a:prstGeom>
          <a:solidFill>
            <a:srgbClr val="FFFFFF"/>
          </a:solidFill>
          <a:ln w="15240">
            <a:solidFill>
              <a:srgbClr val="E2EDF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754880" y="2359152"/>
            <a:ext cx="54864" cy="1261872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01184" y="2450592"/>
            <a:ext cx="411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9396"/>
                </a:solidFill>
              </a:rPr>
              <a:t>05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5349240" y="2450592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</a:rPr>
              <a:t>Target PhD &amp; Master Graduates First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5349240" y="2834640"/>
            <a:ext cx="3474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94A3B8"/>
                </a:solidFill>
              </a:rPr>
              <a:t>Education level is the 8th strongest predictor. Premium-educated customers respond at 2× the base rate — ideal for Catalog and premium-tier campaigns.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754880" y="3730752"/>
            <a:ext cx="4206240" cy="1261872"/>
          </a:xfrm>
          <a:prstGeom prst="rect">
            <a:avLst/>
          </a:prstGeom>
          <a:solidFill>
            <a:srgbClr val="FFFFFF"/>
          </a:solidFill>
          <a:ln w="15240">
            <a:solidFill>
              <a:srgbClr val="E2EDF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754880" y="3730752"/>
            <a:ext cx="54864" cy="1261872"/>
          </a:xfrm>
          <a:prstGeom prst="rect">
            <a:avLst/>
          </a:prstGeom>
          <a:solidFill>
            <a:srgbClr val="EE9B00"/>
          </a:solidFill>
          <a:ln w="12700">
            <a:solidFill>
              <a:srgbClr val="EE9B0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901184" y="3822192"/>
            <a:ext cx="411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E9B00"/>
                </a:solidFill>
              </a:rPr>
              <a:t>06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5349240" y="3822192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</a:rPr>
              <a:t>Suppress 'Sleeping Dog' Customers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5349240" y="4206240"/>
            <a:ext cx="3474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94A3B8"/>
                </a:solidFill>
              </a:rPr>
              <a:t>Remove the identified Sleeping Dog segment from all outreach lists. Contacting them demonstrably reduces purchase likelihood — it costs us real revenue.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28600" y="0"/>
            <a:ext cx="73152" cy="5143500"/>
          </a:xfrm>
          <a:prstGeom prst="rect">
            <a:avLst/>
          </a:prstGeom>
          <a:solidFill>
            <a:srgbClr val="EE9B00"/>
          </a:solidFill>
          <a:ln w="12700">
            <a:solidFill>
              <a:srgbClr val="EE9B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73152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From Data to Decisions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640080" y="1463040"/>
            <a:ext cx="4114800" cy="36576"/>
          </a:xfrm>
          <a:prstGeom prst="rect">
            <a:avLst/>
          </a:prstGeom>
          <a:solidFill>
            <a:srgbClr val="EE9B00"/>
          </a:solidFill>
          <a:ln w="12700">
            <a:solidFill>
              <a:srgbClr val="EE9B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627632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5000"/>
              </a:lnSpc>
              <a:buNone/>
            </a:pPr>
            <a:r>
              <a:rPr lang="en-US" sz="1400" dirty="0">
                <a:solidFill>
                  <a:srgbClr val="CADCFC"/>
                </a:solidFill>
              </a:rPr>
              <a:t>This platform transforms raw customer data into clear,</a:t>
            </a:r>
            <a:endParaRPr lang="en-US" sz="140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1400" dirty="0">
                <a:solidFill>
                  <a:srgbClr val="CADCFC"/>
                </a:solidFill>
              </a:rPr>
              <a:t>actionable business decisions — without requiring the</a:t>
            </a:r>
            <a:endParaRPr lang="en-US" sz="140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1400" dirty="0">
                <a:solidFill>
                  <a:srgbClr val="CADCFC"/>
                </a:solidFill>
              </a:rPr>
              <a:t>executive team to interpret a single line of code.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83464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E9B00"/>
                </a:solidFill>
              </a:rPr>
              <a:t>2,205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40080" y="340156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D2BD"/>
                </a:solidFill>
              </a:rPr>
              <a:t>customers analysed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2633472" y="283464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E9B00"/>
                </a:solidFill>
              </a:rPr>
              <a:t>6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2633472" y="340156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D2BD"/>
                </a:solidFill>
              </a:rPr>
              <a:t>AI modules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626864" y="283464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E9B00"/>
                </a:solidFill>
              </a:rPr>
              <a:t>272%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4626864" y="340156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D2BD"/>
                </a:solidFill>
              </a:rPr>
              <a:t>projected ROI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620256" y="283464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E9B00"/>
                </a:solidFill>
              </a:rPr>
              <a:t>99.9%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6620256" y="340156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D2BD"/>
                </a:solidFill>
              </a:rPr>
              <a:t>recommender precision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40080" y="3913632"/>
            <a:ext cx="4114800" cy="36576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406908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Latha Iyer  ·  latha@ganithasolutions.com  ·  github.com/lathaiyer/marketing-analytics-platform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Marketing Analytics Platform — Executive Briefing</dc:title>
  <dc:subject>PptxGenJS Presentation</dc:subject>
  <dc:creator>Latha Iyer</dc:creator>
  <cp:lastModifiedBy>Latha Iyer</cp:lastModifiedBy>
  <cp:revision>1</cp:revision>
  <dcterms:created xsi:type="dcterms:W3CDTF">2026-03-09T22:11:02Z</dcterms:created>
  <dcterms:modified xsi:type="dcterms:W3CDTF">2026-03-09T22:11:02Z</dcterms:modified>
</cp:coreProperties>
</file>